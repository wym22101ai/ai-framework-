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37160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A Smarter Way to Grow Wealth</a:t>
            </a:r>
          </a:p>
          <a:p>
            <a:pPr>
              <a:defRPr sz="1600">
                <a:solidFill>
                  <a:srgbClr val="F59E0B"/>
                </a:solidFill>
              </a:defRPr>
            </a:pPr>
            <a:r>
              <a:t>High-Yield Cash Protection Combined with Precision Stock Opportunities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725912" cy="4206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</a:defRPr>
            </a:pPr>
            <a:r>
              <a:t>• The Big Idea: Stop choosing between the stock market rollercoaster and low-yielding bank accounts.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</a:defRPr>
            </a:pPr>
            <a:r>
              <a:t>• The Core Strategy: ~80% of money stays safe in US Treasury interest (~4.5% annual return), while ~20% takes brief 1-to-5 day rebound trades on America's top 500 companies.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</a:defRPr>
            </a:pPr>
            <a:r>
              <a:t>• The Result: S&amp;P 500 stock market returns with a fraction of the stress and downside risk.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Family Quant AI | Executive Investor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37160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Why Traditional Investing Stresses Most Families</a:t>
            </a:r>
          </a:p>
          <a:p>
            <a:pPr>
              <a:defRPr sz="1600">
                <a:solidFill>
                  <a:srgbClr val="F59E0B"/>
                </a:solidFill>
              </a:defRPr>
            </a:pPr>
            <a:r>
              <a:t>The Two Big Traps in Today's Financial Markets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725912" cy="4206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</a:defRPr>
            </a:pPr>
            <a:r>
              <a:t>• Trap #1 (The Rollercoaster): Putting 100% into stocks causes painful -20% to -50% portfolio drops during recessions.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</a:defRPr>
            </a:pPr>
            <a:r>
              <a:t>• Trap #2 (The Casino): Reckless day trading and hype-driven 'AI bots' gamble on volatile stocks, borrow money, and blow up accounts.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</a:defRPr>
            </a:pPr>
            <a:r>
              <a:t>• The Family Quant Solution: Keep the vast majority of capital safe in cash interest, only trading when the mathematical odds are overwhelmingly in our favor.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Slide 2 | Market Landscape &amp; The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37160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Our Core Philosophy: Safe Vault + Quick Swipes</a:t>
            </a:r>
          </a:p>
          <a:p>
            <a:pPr>
              <a:defRPr sz="1600">
                <a:solidFill>
                  <a:srgbClr val="F59E0B"/>
                </a:solidFill>
              </a:defRPr>
            </a:pPr>
            <a:r>
              <a:t>How Your Money is Protected &amp; Grown Every 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725912" cy="4206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</a:defRPr>
            </a:pPr>
            <a:r>
              <a:t>• 1. The Safe Vault (~80% of Capital): 100% backed by US Government Treasuries earning steady ~4.5% annual interest with zero market risk.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</a:defRPr>
            </a:pPr>
            <a:r>
              <a:t>• 2. Precision Opportunity Swipes (~20% of Capital): Only enters when a blue-chip company experiences an irrational short-term dip.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</a:defRPr>
            </a:pPr>
            <a:r>
              <a:t>• 3. Lock in Gains &amp; Return to Cash: Holds for just 1 to 5 days, captures the bounce-back, and immediately parks the profits safely back in the Vault.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Slide 3 | Core Strategy &amp; Allocation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37160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How a Trade Works in 3 Simple Steps</a:t>
            </a:r>
          </a:p>
          <a:p>
            <a:pPr>
              <a:defRPr sz="1600">
                <a:solidFill>
                  <a:srgbClr val="F59E0B"/>
                </a:solidFill>
              </a:defRPr>
            </a:pPr>
            <a:r>
              <a:t>Profiting from Everyday Market Overreactions Without the Stress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725912" cy="4206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</a:defRPr>
            </a:pPr>
            <a:r>
              <a:t>• Step 1 (Spot the Emotional Panic): Computer models detect when market panic causes a great company to drop sharply without valid reason.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</a:defRPr>
            </a:pPr>
            <a:r>
              <a:t>• Step 2 (AI Safety Filter): Our AI scans latest news to ensure the company isn't facing real fraud, lawsuits, or scandals. If there's real trouble, the trade is cancelled.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</a:defRPr>
            </a:pPr>
            <a:r>
              <a:t>• Step 3 (Capture the Rebound &amp; Return to Cash): Buy the dip, wait 1 to 5 days for the bounce, take profit, and return straight to safe Treasury interest.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Slide 4 | The 3-Step Execution Process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37160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Real-World Example: Turning Dips into Safe Gains</a:t>
            </a:r>
          </a:p>
          <a:p>
            <a:pPr>
              <a:defRPr sz="1600">
                <a:solidFill>
                  <a:srgbClr val="F59E0B"/>
                </a:solidFill>
              </a:defRPr>
            </a:pPr>
            <a:r>
              <a:t>A Concrete Look at How a 3-Day Trade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725912" cy="4206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</a:defRPr>
            </a:pPr>
            <a:r>
              <a:t>• The Scenario: Broad market panic causes Amazon (AMZN) to drop -4.5% in a single day, even though retail &amp; AWS businesses are thriving.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</a:defRPr>
            </a:pPr>
            <a:r>
              <a:t>• The Execution: Our system buys a disciplined $3,000 position on Wednesday morning. Over the next 48 hours, panic subsides and Amazon rebounds +3.2%.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</a:defRPr>
            </a:pPr>
            <a:r>
              <a:t>• The Outcome: Trade is closed on Friday for a clean +$96 profit. Money immediately returns to earning 4.5% safe Treasury interest over the weekend.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Slide 5 | Real-World Trade Walkthrough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37160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Proven 3-Year Track Record (2023–2026)</a:t>
            </a:r>
          </a:p>
          <a:p>
            <a:pPr>
              <a:defRPr sz="1600">
                <a:solidFill>
                  <a:srgbClr val="F59E0B"/>
                </a:solidFill>
              </a:defRPr>
            </a:pPr>
            <a:r>
              <a:t>Stock Market Returns with Bank-Like Peace of Mind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725912" cy="4206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</a:defRPr>
            </a:pPr>
            <a:r>
              <a:t>• 2x More Consistent: Consistency rating (Sharpe Ratio) of 1.22 vs. S&amp;P 500's 0.64.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</a:defRPr>
            </a:pPr>
            <a:r>
              <a:t>• Gentle Downside: Worst-ever account drop was just -4.5%, compared to a painful -14.4% drop in the S&amp;P 500.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</a:defRPr>
            </a:pPr>
            <a:r>
              <a:t>• Maximum Safety: 78% of all trading days spent safely in cash, exposing capital to risk only 22% of the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Slide 6 | Performance Comparison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37160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Why Our AI Cannot Lose Control: The Safety Cage</a:t>
            </a:r>
          </a:p>
          <a:p>
            <a:pPr>
              <a:defRPr sz="1600">
                <a:solidFill>
                  <a:srgbClr val="F59E0B"/>
                </a:solidFill>
              </a:defRPr>
            </a:pPr>
            <a:r>
              <a:t>Strict Human Ownership &amp; Iron-Clad Risk Boundaries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725912" cy="4206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</a:defRPr>
            </a:pPr>
            <a:r>
              <a:t>• Strict Wallet Limits: The human owner locks the total capital (e.g. $20,000 max). The AI physically cannot access more funds.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</a:defRPr>
            </a:pPr>
            <a:r>
              <a:t>• Zero Borrowed Money (No Leverage): We never borrow money to trade. Every trade is 100% paid for in cash.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</a:defRPr>
            </a:pPr>
            <a:r>
              <a:t>• Single-Stock Protection: No stock can ever exceed $5,000 (25% max). A single corporate surprise can never damage the portfolio.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</a:defRPr>
            </a:pPr>
            <a:r>
              <a:t>• Emergency Red Button: A single click instantly halts all trading and locks all money into safe cash.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Slide 7 | Risk Management &amp; Safety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37160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What We Trade: America's Most Resilient Giants</a:t>
            </a:r>
          </a:p>
          <a:p>
            <a:pPr>
              <a:defRPr sz="1600">
                <a:solidFill>
                  <a:srgbClr val="F59E0B"/>
                </a:solidFill>
              </a:defRPr>
            </a:pPr>
            <a:r>
              <a:t>Zero Penny Stocks, Zero Hype - Only Blue-Chip S&amp;P 500 Leaders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725912" cy="4206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</a:defRPr>
            </a:pPr>
            <a:r>
              <a:t>• Technology Leaders: Amazon (AMZN), Nvidia (NVDA), Microsoft (MSFT).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</a:defRPr>
            </a:pPr>
            <a:r>
              <a:t>• Essential Consumer Staples: Costco Wholesale (COST), Procter &amp; Gamble (PG).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</a:defRPr>
            </a:pPr>
            <a:r>
              <a:t>• Clean Energy &amp; Infrastructure: First Solar (FSLR), NextEra Energy (NEE).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</a:defRPr>
            </a:pPr>
            <a:r>
              <a:t>• Broad Economic Diversification: Spread across all 11 sectors of the US economy so no single industry trend impacts our capital.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Slide 8 | Blue-Chip Universe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37160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How We Grow: Phased Execution Roadmap</a:t>
            </a:r>
          </a:p>
          <a:p>
            <a:pPr>
              <a:defRPr sz="1600">
                <a:solidFill>
                  <a:srgbClr val="F59E0B"/>
                </a:solidFill>
              </a:defRPr>
            </a:pPr>
            <a:r>
              <a:t>Disciplined Progression from Live Simulation to Scale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725912" cy="4206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</a:defRPr>
            </a:pPr>
            <a:r>
              <a:t>• Stage 1 (Live Simulation - Completed): System runs daily with $100k virtual balance, auditing and logging every trade.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</a:defRPr>
            </a:pPr>
            <a:r>
              <a:t>• Stage 2 (Real Seed Capital - $10k to $20k): Dedicated brokerage sub-account earning ~4.5% in cash interest with zero server fees.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</a:defRPr>
            </a:pPr>
            <a:r>
              <a:t>• Stage 3 (Scale Portfolio - $50k to $250k+): Expanding across all 500 S&amp;P companies to generate steady double-digit returns.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Slide 9 | Growth Roadmap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37160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Bottom Line for Investors</a:t>
            </a:r>
          </a:p>
          <a:p>
            <a:pPr>
              <a:defRPr sz="1600">
                <a:solidFill>
                  <a:srgbClr val="F59E0B"/>
                </a:solidFill>
              </a:defRPr>
            </a:pPr>
            <a:r>
              <a:t>Why Family Quant AI is the Future of Wealth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725912" cy="4206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</a:defRPr>
            </a:pPr>
            <a:r>
              <a:t>• 1. Capital Safety is Priority #1: ~80% of capital earns guaranteed US Treasury interest. Principal is protected.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</a:defRPr>
            </a:pPr>
            <a:r>
              <a:t>• 2. Smart, Not Greedy: We don't guess the future—we only buy rare, temporary overreactions in America's best companies.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</a:defRPr>
            </a:pPr>
            <a:r>
              <a:t>• 3. Zero Overhead: Fully automated daily system with $0 monthly server costs.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</a:defRPr>
            </a:pPr>
            <a:r>
              <a:t>• 4. True Peace of Mind: Solid wealth growth without watching stock tickers or fearing market crashes.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Slide 10 | Executive 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